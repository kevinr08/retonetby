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elegraf 1" charset="1" panose="00000500000000000000"/>
      <p:regular r:id="rId16"/>
    </p:embeddedFont>
    <p:embeddedFont>
      <p:font typeface="Telegraf 1 Bold" charset="1" panose="00000800000000000000"/>
      <p:regular r:id="rId17"/>
    </p:embeddedFont>
    <p:embeddedFont>
      <p:font typeface="Telegraf 2" charset="1" panose="00000500000000000000"/>
      <p:regular r:id="rId18"/>
    </p:embeddedFont>
    <p:embeddedFont>
      <p:font typeface="Telegraf 2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3333" t="0" r="23333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469165" y="1034446"/>
            <a:ext cx="3871741" cy="574915"/>
            <a:chOff x="0" y="0"/>
            <a:chExt cx="5162322" cy="7665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9351" cy="766553"/>
            </a:xfrm>
            <a:custGeom>
              <a:avLst/>
              <a:gdLst/>
              <a:ahLst/>
              <a:cxnLst/>
              <a:rect r="r" b="b" t="t" l="l"/>
              <a:pathLst>
                <a:path h="766553" w="769351">
                  <a:moveTo>
                    <a:pt x="0" y="0"/>
                  </a:moveTo>
                  <a:lnTo>
                    <a:pt x="769351" y="0"/>
                  </a:lnTo>
                  <a:lnTo>
                    <a:pt x="769351" y="766553"/>
                  </a:lnTo>
                  <a:lnTo>
                    <a:pt x="0" y="76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106760" y="-24342"/>
              <a:ext cx="4055562" cy="73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8"/>
                </a:lnSpc>
              </a:pPr>
              <a:r>
                <a:rPr lang="en-US" sz="3191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Shonos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69165" y="3449169"/>
            <a:ext cx="6808912" cy="147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46"/>
              </a:lnSpc>
            </a:pPr>
            <a:r>
              <a:rPr lang="en-US" sz="976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Openshift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9165" y="8472497"/>
            <a:ext cx="6808912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Diciembre,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9165" y="7462062"/>
            <a:ext cx="4245929" cy="38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Presentado por: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9165" y="7899660"/>
            <a:ext cx="4245929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Kevin Rivadeneira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7090" y="2471125"/>
            <a:ext cx="11342035" cy="4469904"/>
            <a:chOff x="0" y="0"/>
            <a:chExt cx="15122714" cy="595987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637" r="0" b="2637"/>
            <a:stretch>
              <a:fillRect/>
            </a:stretch>
          </p:blipFill>
          <p:spPr>
            <a:xfrm flipH="false" flipV="false">
              <a:off x="0" y="0"/>
              <a:ext cx="15122714" cy="5959873"/>
            </a:xfrm>
            <a:prstGeom prst="rect">
              <a:avLst/>
            </a:prstGeom>
          </p:spPr>
        </p:pic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70152" y="1028700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¿Qué es Openshift?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0253429" y="7300397"/>
            <a:ext cx="665839" cy="612572"/>
          </a:xfrm>
          <a:custGeom>
            <a:avLst/>
            <a:gdLst/>
            <a:ahLst/>
            <a:cxnLst/>
            <a:rect r="r" b="b" t="t" l="l"/>
            <a:pathLst>
              <a:path h="612572" w="665839">
                <a:moveTo>
                  <a:pt x="0" y="0"/>
                </a:moveTo>
                <a:lnTo>
                  <a:pt x="665838" y="0"/>
                </a:lnTo>
                <a:lnTo>
                  <a:pt x="665838" y="612571"/>
                </a:lnTo>
                <a:lnTo>
                  <a:pt x="0" y="6125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335425" y="7422340"/>
            <a:ext cx="1064606" cy="10646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788026" y="2471125"/>
            <a:ext cx="1064606" cy="1064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561443" y="7657532"/>
            <a:ext cx="612572" cy="612572"/>
          </a:xfrm>
          <a:custGeom>
            <a:avLst/>
            <a:gdLst/>
            <a:ahLst/>
            <a:cxnLst/>
            <a:rect r="r" b="b" t="t" l="l"/>
            <a:pathLst>
              <a:path h="612572" w="612572">
                <a:moveTo>
                  <a:pt x="0" y="0"/>
                </a:moveTo>
                <a:lnTo>
                  <a:pt x="612571" y="0"/>
                </a:lnTo>
                <a:lnTo>
                  <a:pt x="612571" y="612571"/>
                </a:lnTo>
                <a:lnTo>
                  <a:pt x="0" y="612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834220" y="7060390"/>
            <a:ext cx="1064606" cy="106460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098662" y="7295582"/>
            <a:ext cx="535722" cy="612572"/>
          </a:xfrm>
          <a:custGeom>
            <a:avLst/>
            <a:gdLst/>
            <a:ahLst/>
            <a:cxnLst/>
            <a:rect r="r" b="b" t="t" l="l"/>
            <a:pathLst>
              <a:path h="612572" w="535722">
                <a:moveTo>
                  <a:pt x="0" y="0"/>
                </a:moveTo>
                <a:lnTo>
                  <a:pt x="535722" y="0"/>
                </a:lnTo>
                <a:lnTo>
                  <a:pt x="535722" y="612571"/>
                </a:lnTo>
                <a:lnTo>
                  <a:pt x="0" y="6125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054045" y="7074379"/>
            <a:ext cx="1064606" cy="106460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075172" y="2706317"/>
            <a:ext cx="490314" cy="545897"/>
          </a:xfrm>
          <a:custGeom>
            <a:avLst/>
            <a:gdLst/>
            <a:ahLst/>
            <a:cxnLst/>
            <a:rect r="r" b="b" t="t" l="l"/>
            <a:pathLst>
              <a:path h="545897" w="490314">
                <a:moveTo>
                  <a:pt x="0" y="0"/>
                </a:moveTo>
                <a:lnTo>
                  <a:pt x="490315" y="0"/>
                </a:lnTo>
                <a:lnTo>
                  <a:pt x="490315" y="545896"/>
                </a:lnTo>
                <a:lnTo>
                  <a:pt x="0" y="5458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974951" y="8708253"/>
            <a:ext cx="3785554" cy="74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Plataforma de contenedores basada en kubernetes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27552" y="3757038"/>
            <a:ext cx="3785554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Desarrollada por Red Hat</a:t>
            </a:r>
          </a:p>
          <a:p>
            <a:pPr algn="ctr" marL="474988" indent="-237494" lvl="1">
              <a:lnSpc>
                <a:spcPts val="286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Distribución OKD (Community)</a:t>
            </a:r>
          </a:p>
          <a:p>
            <a:pPr algn="ctr" marL="474988" indent="-237494" lvl="1">
              <a:lnSpc>
                <a:spcPts val="286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Distribución OCP (Enterprise)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93571" y="8360293"/>
            <a:ext cx="3785554" cy="110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Construye, despliega y opera aplicaciones en contenedores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73746" y="8346303"/>
            <a:ext cx="3785554" cy="110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Integra Kubernetes + Seguridad+ Herramientas DevOps + Monitoreo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9317" y="3638519"/>
            <a:ext cx="9649237" cy="4102091"/>
            <a:chOff x="0" y="0"/>
            <a:chExt cx="12865650" cy="546945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983" r="0" b="2983"/>
            <a:stretch>
              <a:fillRect/>
            </a:stretch>
          </p:blipFill>
          <p:spPr>
            <a:xfrm flipH="false" flipV="false">
              <a:off x="0" y="0"/>
              <a:ext cx="12865650" cy="5469455"/>
            </a:xfrm>
            <a:prstGeom prst="rect">
              <a:avLst/>
            </a:prstGeom>
          </p:spPr>
        </p:pic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70152" y="1028700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Distribuciones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2316693" y="2573913"/>
            <a:ext cx="1064606" cy="10646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42710" y="2809105"/>
            <a:ext cx="612572" cy="612572"/>
          </a:xfrm>
          <a:custGeom>
            <a:avLst/>
            <a:gdLst/>
            <a:ahLst/>
            <a:cxnLst/>
            <a:rect r="r" b="b" t="t" l="l"/>
            <a:pathLst>
              <a:path h="612572" w="612572">
                <a:moveTo>
                  <a:pt x="0" y="0"/>
                </a:moveTo>
                <a:lnTo>
                  <a:pt x="612572" y="0"/>
                </a:lnTo>
                <a:lnTo>
                  <a:pt x="612572" y="612571"/>
                </a:lnTo>
                <a:lnTo>
                  <a:pt x="0" y="6125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3920" y="3962614"/>
            <a:ext cx="6945396" cy="436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8" indent="-237494" lvl="1">
              <a:lnSpc>
                <a:spcPts val="286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Red Hat OpenShift Container Platform</a:t>
            </a:r>
          </a:p>
          <a:p>
            <a:pPr algn="l" marL="474988" indent="-237494" lvl="1">
              <a:lnSpc>
                <a:spcPts val="286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Instalado en infraestructura propia o cloud, con control total.</a:t>
            </a:r>
          </a:p>
          <a:p>
            <a:pPr algn="l">
              <a:lnSpc>
                <a:spcPts val="2860"/>
              </a:lnSpc>
            </a:pPr>
          </a:p>
          <a:p>
            <a:pPr algn="l" marL="474988" indent="-237494" lvl="1">
              <a:lnSpc>
                <a:spcPts val="286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Red Hat OpenShift Dedicated / Managed</a:t>
            </a:r>
          </a:p>
          <a:p>
            <a:pPr algn="l" marL="474988" indent="-237494" lvl="1">
              <a:lnSpc>
                <a:spcPts val="286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Clúster administrado por Red Hat o por un proveedor en la nube.</a:t>
            </a:r>
          </a:p>
          <a:p>
            <a:pPr algn="l">
              <a:lnSpc>
                <a:spcPts val="2860"/>
              </a:lnSpc>
            </a:pPr>
          </a:p>
          <a:p>
            <a:pPr algn="l" marL="474988" indent="-237494" lvl="1">
              <a:lnSpc>
                <a:spcPts val="286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OKD (comunitaria)</a:t>
            </a:r>
          </a:p>
          <a:p>
            <a:pPr algn="l" marL="474988" indent="-237494" lvl="1">
              <a:lnSpc>
                <a:spcPts val="286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Versión open source, sin soporte comercial, mantenida por la comunidad.</a:t>
            </a:r>
          </a:p>
          <a:p>
            <a:pPr algn="l">
              <a:lnSpc>
                <a:spcPts val="286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6974" y="2471125"/>
            <a:ext cx="8224981" cy="6787175"/>
            <a:chOff x="0" y="0"/>
            <a:chExt cx="10966642" cy="904956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475" r="0" b="475"/>
            <a:stretch>
              <a:fillRect/>
            </a:stretch>
          </p:blipFill>
          <p:spPr>
            <a:xfrm flipH="false" flipV="false">
              <a:off x="0" y="0"/>
              <a:ext cx="10966642" cy="9049567"/>
            </a:xfrm>
            <a:prstGeom prst="rect">
              <a:avLst/>
            </a:prstGeom>
          </p:spPr>
        </p:pic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70152" y="1028700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OpenShift sobre Kubernetes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2450859" y="6397328"/>
            <a:ext cx="665839" cy="612572"/>
          </a:xfrm>
          <a:custGeom>
            <a:avLst/>
            <a:gdLst/>
            <a:ahLst/>
            <a:cxnLst/>
            <a:rect r="r" b="b" t="t" l="l"/>
            <a:pathLst>
              <a:path h="612572" w="665839">
                <a:moveTo>
                  <a:pt x="0" y="0"/>
                </a:moveTo>
                <a:lnTo>
                  <a:pt x="665839" y="0"/>
                </a:lnTo>
                <a:lnTo>
                  <a:pt x="665839" y="612572"/>
                </a:lnTo>
                <a:lnTo>
                  <a:pt x="0" y="612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25779" y="2471125"/>
            <a:ext cx="1064606" cy="10646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788026" y="2471125"/>
            <a:ext cx="1064606" cy="1064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51796" y="2706317"/>
            <a:ext cx="612572" cy="612572"/>
          </a:xfrm>
          <a:custGeom>
            <a:avLst/>
            <a:gdLst/>
            <a:ahLst/>
            <a:cxnLst/>
            <a:rect r="r" b="b" t="t" l="l"/>
            <a:pathLst>
              <a:path h="612572" w="612572">
                <a:moveTo>
                  <a:pt x="0" y="0"/>
                </a:moveTo>
                <a:lnTo>
                  <a:pt x="612572" y="0"/>
                </a:lnTo>
                <a:lnTo>
                  <a:pt x="612572" y="612571"/>
                </a:lnTo>
                <a:lnTo>
                  <a:pt x="0" y="612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224842" y="6171311"/>
            <a:ext cx="1064606" cy="106460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075172" y="2706317"/>
            <a:ext cx="490314" cy="545897"/>
          </a:xfrm>
          <a:custGeom>
            <a:avLst/>
            <a:gdLst/>
            <a:ahLst/>
            <a:cxnLst/>
            <a:rect r="r" b="b" t="t" l="l"/>
            <a:pathLst>
              <a:path h="545897" w="490314">
                <a:moveTo>
                  <a:pt x="0" y="0"/>
                </a:moveTo>
                <a:lnTo>
                  <a:pt x="490315" y="0"/>
                </a:lnTo>
                <a:lnTo>
                  <a:pt x="490315" y="545896"/>
                </a:lnTo>
                <a:lnTo>
                  <a:pt x="0" y="5458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665305" y="3757038"/>
            <a:ext cx="3785554" cy="110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Usa Kubernetes como motor de orquestación de contenedores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27552" y="3757038"/>
            <a:ext cx="3785554" cy="110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Incluye APIs propias además de las APIs estándar de Kubernetes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64368" y="7457224"/>
            <a:ext cx="3785554" cy="110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2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Integra Registro de Imágenes, consola web y herramientas CLI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70152" y="1028700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Arquitectura básica de un cluster kubernetes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6813660" y="2380444"/>
            <a:ext cx="11248214" cy="7339459"/>
          </a:xfrm>
          <a:custGeom>
            <a:avLst/>
            <a:gdLst/>
            <a:ahLst/>
            <a:cxnLst/>
            <a:rect r="r" b="b" t="t" l="l"/>
            <a:pathLst>
              <a:path h="7339459" w="11248214">
                <a:moveTo>
                  <a:pt x="0" y="0"/>
                </a:moveTo>
                <a:lnTo>
                  <a:pt x="11248213" y="0"/>
                </a:lnTo>
                <a:lnTo>
                  <a:pt x="11248213" y="7339460"/>
                </a:lnTo>
                <a:lnTo>
                  <a:pt x="0" y="7339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4025" y="4046415"/>
            <a:ext cx="5969635" cy="3021330"/>
            <a:chOff x="0" y="0"/>
            <a:chExt cx="7959513" cy="402843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27498"/>
              <a:ext cx="7959513" cy="3300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Control Plane (Master nodes)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Worker nodes (Pods / Contenedores)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Container Registry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Capa de red</a:t>
              </a:r>
            </a:p>
            <a:p>
              <a:pPr algn="l" marL="539748" indent="-269874" lvl="1">
                <a:lnSpc>
                  <a:spcPts val="324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Consola web + CLI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0"/>
              <a:ext cx="7959513" cy="660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b="true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Componentes principales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70152" y="1028700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Componentes de servicio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235712" y="2874299"/>
            <a:ext cx="7737853" cy="5848377"/>
          </a:xfrm>
          <a:custGeom>
            <a:avLst/>
            <a:gdLst/>
            <a:ahLst/>
            <a:cxnLst/>
            <a:rect r="r" b="b" t="t" l="l"/>
            <a:pathLst>
              <a:path h="5848377" w="7737853">
                <a:moveTo>
                  <a:pt x="0" y="0"/>
                </a:moveTo>
                <a:lnTo>
                  <a:pt x="7737852" y="0"/>
                </a:lnTo>
                <a:lnTo>
                  <a:pt x="7737852" y="5848377"/>
                </a:lnTo>
                <a:lnTo>
                  <a:pt x="0" y="584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49242" y="4083035"/>
            <a:ext cx="5570622" cy="3430905"/>
            <a:chOff x="0" y="0"/>
            <a:chExt cx="7427496" cy="457453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27498"/>
              <a:ext cx="7427496" cy="3847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Proyecto / Namespace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POD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Deployment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Service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Route / Ingress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Configmap</a:t>
              </a:r>
            </a:p>
            <a:p>
              <a:pPr algn="l" marL="539748" indent="-269874" lvl="1">
                <a:lnSpc>
                  <a:spcPts val="324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Secret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0"/>
              <a:ext cx="7427496" cy="660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b="true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Componentes más relevantes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94387" y="3259291"/>
            <a:ext cx="1064606" cy="106460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12320" y="3533830"/>
            <a:ext cx="450852" cy="515527"/>
          </a:xfrm>
          <a:custGeom>
            <a:avLst/>
            <a:gdLst/>
            <a:ahLst/>
            <a:cxnLst/>
            <a:rect r="r" b="b" t="t" l="l"/>
            <a:pathLst>
              <a:path h="515527" w="450852">
                <a:moveTo>
                  <a:pt x="0" y="0"/>
                </a:moveTo>
                <a:lnTo>
                  <a:pt x="450853" y="0"/>
                </a:lnTo>
                <a:lnTo>
                  <a:pt x="450853" y="515528"/>
                </a:lnTo>
                <a:lnTo>
                  <a:pt x="0" y="51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32467" y="3259291"/>
            <a:ext cx="1064606" cy="10646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563427" y="3259291"/>
            <a:ext cx="1064606" cy="1064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903930" y="3523349"/>
            <a:ext cx="521681" cy="515042"/>
          </a:xfrm>
          <a:custGeom>
            <a:avLst/>
            <a:gdLst/>
            <a:ahLst/>
            <a:cxnLst/>
            <a:rect r="r" b="b" t="t" l="l"/>
            <a:pathLst>
              <a:path h="515042" w="521681">
                <a:moveTo>
                  <a:pt x="0" y="0"/>
                </a:moveTo>
                <a:lnTo>
                  <a:pt x="521681" y="0"/>
                </a:lnTo>
                <a:lnTo>
                  <a:pt x="521681" y="515042"/>
                </a:lnTo>
                <a:lnTo>
                  <a:pt x="0" y="515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14591" y="3496398"/>
            <a:ext cx="362280" cy="589508"/>
          </a:xfrm>
          <a:custGeom>
            <a:avLst/>
            <a:gdLst/>
            <a:ahLst/>
            <a:cxnLst/>
            <a:rect r="r" b="b" t="t" l="l"/>
            <a:pathLst>
              <a:path h="589508" w="362280">
                <a:moveTo>
                  <a:pt x="0" y="0"/>
                </a:moveTo>
                <a:lnTo>
                  <a:pt x="362279" y="0"/>
                </a:lnTo>
                <a:lnTo>
                  <a:pt x="362279" y="589508"/>
                </a:lnTo>
                <a:lnTo>
                  <a:pt x="0" y="5895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425348" y="3259291"/>
            <a:ext cx="1064606" cy="106460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60901" y="3259291"/>
            <a:ext cx="1064606" cy="106460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718344" y="3561143"/>
            <a:ext cx="478613" cy="439454"/>
          </a:xfrm>
          <a:custGeom>
            <a:avLst/>
            <a:gdLst/>
            <a:ahLst/>
            <a:cxnLst/>
            <a:rect r="r" b="b" t="t" l="l"/>
            <a:pathLst>
              <a:path h="439454" w="478613">
                <a:moveTo>
                  <a:pt x="0" y="0"/>
                </a:moveTo>
                <a:lnTo>
                  <a:pt x="478613" y="0"/>
                </a:lnTo>
                <a:lnTo>
                  <a:pt x="478613" y="439454"/>
                </a:lnTo>
                <a:lnTo>
                  <a:pt x="0" y="4394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532853" y="3571425"/>
            <a:ext cx="520701" cy="520701"/>
          </a:xfrm>
          <a:custGeom>
            <a:avLst/>
            <a:gdLst/>
            <a:ahLst/>
            <a:cxnLst/>
            <a:rect r="r" b="b" t="t" l="l"/>
            <a:pathLst>
              <a:path h="520701" w="520701">
                <a:moveTo>
                  <a:pt x="0" y="0"/>
                </a:moveTo>
                <a:lnTo>
                  <a:pt x="520702" y="0"/>
                </a:lnTo>
                <a:lnTo>
                  <a:pt x="520702" y="520701"/>
                </a:lnTo>
                <a:lnTo>
                  <a:pt x="0" y="5207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1070152" y="1028700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Flujo de código a aplicación en ejecución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23" id="23"/>
          <p:cNvSpPr/>
          <p:nvPr/>
        </p:nvSpPr>
        <p:spPr>
          <a:xfrm flipH="false" flipV="false" rot="0">
            <a:off x="472597" y="6497227"/>
            <a:ext cx="4862665" cy="2735249"/>
          </a:xfrm>
          <a:custGeom>
            <a:avLst/>
            <a:gdLst/>
            <a:ahLst/>
            <a:cxnLst/>
            <a:rect r="r" b="b" t="t" l="l"/>
            <a:pathLst>
              <a:path h="2735249" w="4862665">
                <a:moveTo>
                  <a:pt x="0" y="0"/>
                </a:moveTo>
                <a:lnTo>
                  <a:pt x="4862665" y="0"/>
                </a:lnTo>
                <a:lnTo>
                  <a:pt x="4862665" y="2735249"/>
                </a:lnTo>
                <a:lnTo>
                  <a:pt x="0" y="27352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910468" y="6497227"/>
            <a:ext cx="5514880" cy="2761073"/>
          </a:xfrm>
          <a:custGeom>
            <a:avLst/>
            <a:gdLst/>
            <a:ahLst/>
            <a:cxnLst/>
            <a:rect r="r" b="b" t="t" l="l"/>
            <a:pathLst>
              <a:path h="2761073" w="5514880">
                <a:moveTo>
                  <a:pt x="0" y="0"/>
                </a:moveTo>
                <a:lnTo>
                  <a:pt x="5514880" y="0"/>
                </a:lnTo>
                <a:lnTo>
                  <a:pt x="5514880" y="2761073"/>
                </a:lnTo>
                <a:lnTo>
                  <a:pt x="0" y="27610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957651" y="6403597"/>
            <a:ext cx="5656958" cy="2854703"/>
          </a:xfrm>
          <a:custGeom>
            <a:avLst/>
            <a:gdLst/>
            <a:ahLst/>
            <a:cxnLst/>
            <a:rect r="r" b="b" t="t" l="l"/>
            <a:pathLst>
              <a:path h="2854703" w="5656958">
                <a:moveTo>
                  <a:pt x="0" y="0"/>
                </a:moveTo>
                <a:lnTo>
                  <a:pt x="5656958" y="0"/>
                </a:lnTo>
                <a:lnTo>
                  <a:pt x="5656958" y="2854703"/>
                </a:lnTo>
                <a:lnTo>
                  <a:pt x="0" y="28547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881094" y="4457491"/>
            <a:ext cx="258207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Desarrollador realiza commit en el repositorio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18268" y="4457491"/>
            <a:ext cx="255492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Pipeline CI/CD construye imagen de contenedor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03169" y="4457491"/>
            <a:ext cx="242823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Publicación de imagen en Container Registry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04701" y="4457491"/>
            <a:ext cx="2410141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Ejecución del deployment con la imagen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88134" y="4457932"/>
            <a:ext cx="253006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Rollout(Actualización de imagen)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3370" y="2390168"/>
            <a:ext cx="757040" cy="75704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E2E"/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b="true" sz="1700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92327" y="2390168"/>
            <a:ext cx="757040" cy="7570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E2E"/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 u="none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2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3370" y="3314944"/>
            <a:ext cx="309892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Direccionamiento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92327" y="3377165"/>
            <a:ext cx="240785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Network Polices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4280" y="3377165"/>
            <a:ext cx="24210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Secretos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71705" y="3314944"/>
            <a:ext cx="332346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Autenticación y autorización(RBAC)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61285" y="2390168"/>
            <a:ext cx="757040" cy="75704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E2E"/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 u="none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44226" y="2390168"/>
            <a:ext cx="757040" cy="7570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E2E"/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 u="none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4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070152" y="1028700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Seguridad en openshift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423370" y="4495800"/>
            <a:ext cx="362905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Cada POD tiene su IP interna en la red del cluster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92327" y="4495800"/>
            <a:ext cx="362905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Definición de qué pods pueden hablar con cuáles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61285" y="4495800"/>
            <a:ext cx="362905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Se almacenan codificados y bajo controles de acceso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30243" y="4495800"/>
            <a:ext cx="362905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Integración con identidades corporativas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Control de acceso por roles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423370" y="4282040"/>
            <a:ext cx="3364925" cy="0"/>
          </a:xfrm>
          <a:prstGeom prst="line">
            <a:avLst/>
          </a:prstGeom>
          <a:ln cap="flat" w="19050">
            <a:solidFill>
              <a:srgbClr val="D2BF5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5492327" y="4282040"/>
            <a:ext cx="3364925" cy="0"/>
          </a:xfrm>
          <a:prstGeom prst="line">
            <a:avLst/>
          </a:prstGeom>
          <a:ln cap="flat" w="19050">
            <a:solidFill>
              <a:srgbClr val="D2BF5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9561285" y="4282040"/>
            <a:ext cx="3364925" cy="0"/>
          </a:xfrm>
          <a:prstGeom prst="line">
            <a:avLst/>
          </a:prstGeom>
          <a:ln cap="flat" w="19050">
            <a:solidFill>
              <a:srgbClr val="D2BF5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13630243" y="4282040"/>
            <a:ext cx="3364925" cy="0"/>
          </a:xfrm>
          <a:prstGeom prst="line">
            <a:avLst/>
          </a:prstGeom>
          <a:ln cap="flat" w="19050">
            <a:solidFill>
              <a:srgbClr val="D2BF5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1423370" y="6086475"/>
            <a:ext cx="757040" cy="75704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E2E"/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b="true" sz="1700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92327" y="6086475"/>
            <a:ext cx="757040" cy="75704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E2E"/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23370" y="7011252"/>
            <a:ext cx="309892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Security Context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92327" y="7073472"/>
            <a:ext cx="291663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Análisis y control de imágenes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74280" y="7073472"/>
            <a:ext cx="312767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Cifrado de comunicaciones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71705" y="7011252"/>
            <a:ext cx="332346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Integración SIEM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561285" y="6086475"/>
            <a:ext cx="757040" cy="75704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E2E"/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7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644226" y="6086475"/>
            <a:ext cx="757040" cy="75704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E2E"/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FFFFFF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8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423370" y="8192107"/>
            <a:ext cx="362905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Control sobre los PODS, qué pueden hacer, privilegios, usuarios, volúmenes, etc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492327" y="8192107"/>
            <a:ext cx="362905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Análisis de vulnerabilidades y restricciones sobre qué imágenes se puede usar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61285" y="8192107"/>
            <a:ext cx="3629057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Todo tráfico expuesto por Routes incluye HTTPS y terminación TLS para protección de datos en tránsito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630243" y="8192107"/>
            <a:ext cx="362905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Exporta logs y eventos a soluciones SIEM / monitoreo central</a:t>
            </a:r>
          </a:p>
        </p:txBody>
      </p:sp>
      <p:sp>
        <p:nvSpPr>
          <p:cNvPr name="AutoShape 47" id="47"/>
          <p:cNvSpPr/>
          <p:nvPr/>
        </p:nvSpPr>
        <p:spPr>
          <a:xfrm>
            <a:off x="1423370" y="7978347"/>
            <a:ext cx="3364925" cy="0"/>
          </a:xfrm>
          <a:prstGeom prst="line">
            <a:avLst/>
          </a:prstGeom>
          <a:ln cap="flat" w="19050">
            <a:solidFill>
              <a:srgbClr val="D2BF5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>
            <a:off x="5492327" y="7978347"/>
            <a:ext cx="3364925" cy="0"/>
          </a:xfrm>
          <a:prstGeom prst="line">
            <a:avLst/>
          </a:prstGeom>
          <a:ln cap="flat" w="19050">
            <a:solidFill>
              <a:srgbClr val="D2BF5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>
            <a:off x="9561285" y="7978347"/>
            <a:ext cx="3364925" cy="0"/>
          </a:xfrm>
          <a:prstGeom prst="line">
            <a:avLst/>
          </a:prstGeom>
          <a:ln cap="flat" w="19050">
            <a:solidFill>
              <a:srgbClr val="D2BF5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>
            <a:off x="13630243" y="7978347"/>
            <a:ext cx="3364925" cy="0"/>
          </a:xfrm>
          <a:prstGeom prst="line">
            <a:avLst/>
          </a:prstGeom>
          <a:ln cap="flat" w="19050">
            <a:solidFill>
              <a:srgbClr val="D2BF5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2026" y="4329931"/>
            <a:ext cx="8377274" cy="3329397"/>
            <a:chOff x="0" y="0"/>
            <a:chExt cx="11169699" cy="443919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05" t="0" r="305" b="0"/>
            <a:stretch>
              <a:fillRect/>
            </a:stretch>
          </p:blipFill>
          <p:spPr>
            <a:xfrm flipH="false" flipV="false">
              <a:off x="0" y="0"/>
              <a:ext cx="11169699" cy="4439195"/>
            </a:xfrm>
            <a:prstGeom prst="rect">
              <a:avLst/>
            </a:prstGeom>
          </p:spPr>
        </p:pic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70152" y="1028700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Observabilidad en openshift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2316693" y="2573913"/>
            <a:ext cx="1064606" cy="10646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42710" y="2809105"/>
            <a:ext cx="612572" cy="612572"/>
          </a:xfrm>
          <a:custGeom>
            <a:avLst/>
            <a:gdLst/>
            <a:ahLst/>
            <a:cxnLst/>
            <a:rect r="r" b="b" t="t" l="l"/>
            <a:pathLst>
              <a:path h="612572" w="612572">
                <a:moveTo>
                  <a:pt x="0" y="0"/>
                </a:moveTo>
                <a:lnTo>
                  <a:pt x="612572" y="0"/>
                </a:lnTo>
                <a:lnTo>
                  <a:pt x="612572" y="612571"/>
                </a:lnTo>
                <a:lnTo>
                  <a:pt x="0" y="6125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962614"/>
            <a:ext cx="7470212" cy="484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7" indent="-248289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Logs centralizados de pods, proyectos y nodos</a:t>
            </a:r>
          </a:p>
          <a:p>
            <a:pPr algn="l">
              <a:lnSpc>
                <a:spcPts val="2990"/>
              </a:lnSpc>
            </a:pPr>
          </a:p>
          <a:p>
            <a:pPr algn="l" marL="496577" indent="-248289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Métricas de clúster, nodos, pods y aplicaciones</a:t>
            </a:r>
          </a:p>
          <a:p>
            <a:pPr algn="l">
              <a:lnSpc>
                <a:spcPts val="2990"/>
              </a:lnSpc>
            </a:pPr>
          </a:p>
          <a:p>
            <a:pPr algn="l" marL="496577" indent="-248289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</a:t>
            </a: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lertas basadas en reglas (estado, recursos, errores)</a:t>
            </a:r>
          </a:p>
          <a:p>
            <a:pPr algn="l">
              <a:lnSpc>
                <a:spcPts val="2990"/>
              </a:lnSpc>
            </a:pPr>
          </a:p>
          <a:p>
            <a:pPr algn="l" marL="496577" indent="-248289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Consola web para ver todo sin entrar al servidor</a:t>
            </a:r>
          </a:p>
          <a:p>
            <a:pPr algn="l">
              <a:lnSpc>
                <a:spcPts val="2990"/>
              </a:lnSpc>
            </a:pPr>
          </a:p>
          <a:p>
            <a:pPr algn="l" marL="496577" indent="-248289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Integración con herramientas externas (Prometheus, Grafana, SIEM, etc.)</a:t>
            </a:r>
          </a:p>
          <a:p>
            <a:pPr algn="l">
              <a:lnSpc>
                <a:spcPts val="2990"/>
              </a:lnSpc>
            </a:pPr>
          </a:p>
          <a:p>
            <a:pPr algn="l">
              <a:lnSpc>
                <a:spcPts val="299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82090" y="3115390"/>
            <a:ext cx="9096812" cy="5188202"/>
            <a:chOff x="0" y="0"/>
            <a:chExt cx="12129083" cy="691760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666" r="0" b="1666"/>
            <a:stretch>
              <a:fillRect/>
            </a:stretch>
          </p:blipFill>
          <p:spPr>
            <a:xfrm flipH="false" flipV="false">
              <a:off x="0" y="0"/>
              <a:ext cx="12129083" cy="6917603"/>
            </a:xfrm>
            <a:prstGeom prst="rect">
              <a:avLst/>
            </a:prstGeom>
          </p:spPr>
        </p:pic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70152" y="1028700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Monitoreo en openshift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2316693" y="2573913"/>
            <a:ext cx="1064606" cy="10646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2BF5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42710" y="2809105"/>
            <a:ext cx="612572" cy="612572"/>
          </a:xfrm>
          <a:custGeom>
            <a:avLst/>
            <a:gdLst/>
            <a:ahLst/>
            <a:cxnLst/>
            <a:rect r="r" b="b" t="t" l="l"/>
            <a:pathLst>
              <a:path h="612572" w="612572">
                <a:moveTo>
                  <a:pt x="0" y="0"/>
                </a:moveTo>
                <a:lnTo>
                  <a:pt x="612572" y="0"/>
                </a:lnTo>
                <a:lnTo>
                  <a:pt x="612572" y="612571"/>
                </a:lnTo>
                <a:lnTo>
                  <a:pt x="0" y="6125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962614"/>
            <a:ext cx="7470212" cy="410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7" indent="-248289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Monitoreo de:</a:t>
            </a:r>
          </a:p>
          <a:p>
            <a:pPr algn="l" marL="993154" indent="-331051" lvl="2">
              <a:lnSpc>
                <a:spcPts val="299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Nodos (CPU, memoria, disco, red)</a:t>
            </a:r>
          </a:p>
          <a:p>
            <a:pPr algn="l" marL="993154" indent="-331051" lvl="2">
              <a:lnSpc>
                <a:spcPts val="299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Pods y containers (uso de recursos, reinicios, estado)</a:t>
            </a:r>
          </a:p>
          <a:p>
            <a:pPr algn="l" marL="993154" indent="-331051" lvl="2">
              <a:lnSpc>
                <a:spcPts val="299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Objetos de Kubernetes/OpenShift (Deployments, Routes, etc.)</a:t>
            </a:r>
          </a:p>
          <a:p>
            <a:pPr algn="l" marL="496577" indent="-248289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St</a:t>
            </a: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ack de monitoreo basado en Prometheus (según instalación)</a:t>
            </a:r>
          </a:p>
          <a:p>
            <a:pPr algn="l" marL="496577" indent="-248289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Dashboards listos o integrables con Kibana/Grafana</a:t>
            </a:r>
          </a:p>
          <a:p>
            <a:pPr algn="l">
              <a:lnSpc>
                <a:spcPts val="299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DAG7QsfFKjs</dc:identifier>
  <dcterms:modified xsi:type="dcterms:W3CDTF">2011-08-01T06:04:30Z</dcterms:modified>
  <cp:revision>1</cp:revision>
  <dc:title>Presentación de Negocios Marketing Plan Empresa Moderno Minimal Azul Oscuro y Amarillo</dc:title>
</cp:coreProperties>
</file>